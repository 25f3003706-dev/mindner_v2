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809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lIns="101600" rIns="101600" tIns="50800" bIns="50800"/>
          <a:lstStyle/>
          <a:p>
            <a:pPr algn="ctr"/>
            <a:r>
              <a:rPr sz="3000" b="1">
                <a:solidFill>
                  <a:srgbClr val="0C203A"/>
                </a:solidFill>
                <a:latin typeface="Arial"/>
              </a:rPr>
              <a:t>MINDNER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0C203A"/>
                </a:solidFill>
                <a:latin typeface="Arial"/>
              </a:rPr>
              <a:t>Problem Statement ID – </a:t>
            </a:r>
            <a:r>
              <a:rPr sz="1300" b="0">
                <a:solidFill>
                  <a:srgbClr val="1E2328"/>
                </a:solidFill>
                <a:latin typeface="Arial"/>
              </a:rPr>
              <a:t>26003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C203A"/>
                </a:solidFill>
                <a:latin typeface="Arial"/>
              </a:rPr>
              <a:t>Problem Statement Title – </a:t>
            </a:r>
            <a:r>
              <a:rPr sz="1300" b="0">
                <a:solidFill>
                  <a:srgbClr val="1E2328"/>
                </a:solidFill>
                <a:latin typeface="Arial"/>
              </a:rPr>
              <a:t>AI-Based Cognitive Gaming and Memory Assistance Platform for Elderly Dementia Patients in NER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C203A"/>
                </a:solidFill>
                <a:latin typeface="Arial"/>
              </a:rPr>
              <a:t>Theme – </a:t>
            </a:r>
            <a:r>
              <a:rPr sz="1300" b="0">
                <a:solidFill>
                  <a:srgbClr val="1E2328"/>
                </a:solidFill>
                <a:latin typeface="Arial"/>
              </a:rPr>
              <a:t>Healthcare / Assistive Technology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C203A"/>
                </a:solidFill>
                <a:latin typeface="Arial"/>
              </a:rPr>
              <a:t>PS Category – </a:t>
            </a:r>
            <a:r>
              <a:rPr sz="1300" b="0">
                <a:solidFill>
                  <a:srgbClr val="1E2328"/>
                </a:solidFill>
                <a:latin typeface="Arial"/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C203A"/>
                </a:solidFill>
                <a:latin typeface="Arial"/>
              </a:rPr>
              <a:t>Team ID – </a:t>
            </a:r>
            <a:r>
              <a:rPr sz="1300" b="0">
                <a:solidFill>
                  <a:srgbClr val="1E2328"/>
                </a:solidFill>
                <a:latin typeface="Arial"/>
              </a:rPr>
              <a:t>[ENTER TEAM ID]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0C203A"/>
                </a:solidFill>
                <a:latin typeface="Arial"/>
              </a:rPr>
              <a:t>Team Name – </a:t>
            </a:r>
            <a:r>
              <a:rPr sz="1300" b="0">
                <a:solidFill>
                  <a:srgbClr val="1E2328"/>
                </a:solidFill>
                <a:latin typeface="Arial"/>
              </a:rPr>
              <a:t>[ENTER REGISTERED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031" y="6048238"/>
            <a:ext cx="2730910" cy="78087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4400" y="1874519"/>
            <a:ext cx="93268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20568C"/>
                </a:solidFill>
                <a:latin typeface="Arial"/>
              </a:rPr>
              <a:t>AI-Assisted Cognitive Engagement &amp; Memory Support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2542032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50" b="0">
                <a:solidFill>
                  <a:srgbClr val="5E6D7B"/>
                </a:solidFill>
                <a:latin typeface="Arial"/>
              </a:rPr>
              <a:t>A connected support loop for the elderly user • caregiver • healthcare worker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101600" rIns="101600" tIns="50800" bIns="50800"/>
          <a:lstStyle/>
          <a:p>
            <a:pPr eaLnBrk="1" hangingPunct="1" algn="ctr"/>
            <a:r>
              <a:rPr sz="2400" b="1">
                <a:solidFill>
                  <a:srgbClr val="0C203A"/>
                </a:solidFill>
                <a:latin typeface="Arial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C203A"/>
                </a:solidFill>
                <a:latin typeface="Arial"/>
              </a:rPr>
              <a:t>MINDNER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9657"/>
            <a:ext cx="2966884" cy="848343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94360" y="96012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0C203A"/>
                </a:solidFill>
                <a:latin typeface="Arial"/>
              </a:rPr>
              <a:t>One connected loop: Engage → Measure → Adapt → Support → Review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02920" y="1508760"/>
            <a:ext cx="19385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ectangle 15364"/>
          <p:cNvSpPr/>
          <p:nvPr/>
        </p:nvSpPr>
        <p:spPr>
          <a:xfrm>
            <a:off x="502920" y="1508760"/>
            <a:ext cx="64008" cy="1234440"/>
          </a:xfrm>
          <a:prstGeom prst="rect">
            <a:avLst/>
          </a:prstGeom>
          <a:solidFill>
            <a:srgbClr val="2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21792" y="1600200"/>
            <a:ext cx="17099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ENGAGE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21792" y="1947672"/>
            <a:ext cx="1709928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19" b="0">
                <a:solidFill>
                  <a:srgbClr val="5E6D7B"/>
                </a:solidFill>
                <a:latin typeface="Arial"/>
              </a:rPr>
              <a:t>3–10 min cognitive activity</a:t>
            </a:r>
          </a:p>
        </p:txBody>
      </p:sp>
      <p:sp>
        <p:nvSpPr>
          <p:cNvPr id="15368" name="Oval 15367"/>
          <p:cNvSpPr/>
          <p:nvPr/>
        </p:nvSpPr>
        <p:spPr>
          <a:xfrm>
            <a:off x="1234440" y="1353312"/>
            <a:ext cx="475488" cy="475488"/>
          </a:xfrm>
          <a:prstGeom prst="ellipse">
            <a:avLst/>
          </a:prstGeom>
          <a:solidFill>
            <a:srgbClr val="2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1234440" y="1380744"/>
            <a:ext cx="4754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2660904" y="1508760"/>
            <a:ext cx="19385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ectangle 15370"/>
          <p:cNvSpPr/>
          <p:nvPr/>
        </p:nvSpPr>
        <p:spPr>
          <a:xfrm>
            <a:off x="2660904" y="1508760"/>
            <a:ext cx="64008" cy="1234440"/>
          </a:xfrm>
          <a:prstGeom prst="rect">
            <a:avLst/>
          </a:prstGeom>
          <a:solidFill>
            <a:srgbClr val="26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2779776" y="1600200"/>
            <a:ext cx="17099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MEASURE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2779776" y="1947672"/>
            <a:ext cx="1709928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19" b="0">
                <a:solidFill>
                  <a:srgbClr val="5E6D7B"/>
                </a:solidFill>
                <a:latin typeface="Arial"/>
              </a:rPr>
              <a:t>Accuracy • speed • effort • consistency</a:t>
            </a:r>
          </a:p>
        </p:txBody>
      </p:sp>
      <p:sp>
        <p:nvSpPr>
          <p:cNvPr id="15374" name="Oval 15373"/>
          <p:cNvSpPr/>
          <p:nvPr/>
        </p:nvSpPr>
        <p:spPr>
          <a:xfrm>
            <a:off x="3392424" y="1353312"/>
            <a:ext cx="475488" cy="475488"/>
          </a:xfrm>
          <a:prstGeom prst="ellipse">
            <a:avLst/>
          </a:prstGeom>
          <a:solidFill>
            <a:srgbClr val="26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3392424" y="1380744"/>
            <a:ext cx="4754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818888" y="1508760"/>
            <a:ext cx="19385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ectangle 15376"/>
          <p:cNvSpPr/>
          <p:nvPr/>
        </p:nvSpPr>
        <p:spPr>
          <a:xfrm>
            <a:off x="4818888" y="1508760"/>
            <a:ext cx="64008" cy="1234440"/>
          </a:xfrm>
          <a:prstGeom prst="rect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4937759" y="1600200"/>
            <a:ext cx="17099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ADAPT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4937759" y="1947672"/>
            <a:ext cx="1709928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19" b="0">
                <a:solidFill>
                  <a:srgbClr val="5E6D7B"/>
                </a:solidFill>
                <a:latin typeface="Arial"/>
              </a:rPr>
              <a:t>Transparent difficulty policy + trend flag</a:t>
            </a:r>
          </a:p>
        </p:txBody>
      </p:sp>
      <p:sp>
        <p:nvSpPr>
          <p:cNvPr id="15380" name="Oval 15379"/>
          <p:cNvSpPr/>
          <p:nvPr/>
        </p:nvSpPr>
        <p:spPr>
          <a:xfrm>
            <a:off x="5550407" y="1353312"/>
            <a:ext cx="475488" cy="475488"/>
          </a:xfrm>
          <a:prstGeom prst="ellipse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5550407" y="1380744"/>
            <a:ext cx="4754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6976872" y="1508760"/>
            <a:ext cx="19385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ectangle 15382"/>
          <p:cNvSpPr/>
          <p:nvPr/>
        </p:nvSpPr>
        <p:spPr>
          <a:xfrm>
            <a:off x="6976872" y="1508760"/>
            <a:ext cx="64008" cy="1234440"/>
          </a:xfrm>
          <a:prstGeom prst="rect">
            <a:avLst/>
          </a:prstGeom>
          <a:solidFill>
            <a:srgbClr val="3C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7095744" y="1600200"/>
            <a:ext cx="17099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SUPPORT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7095744" y="1947672"/>
            <a:ext cx="1709928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19" b="0">
                <a:solidFill>
                  <a:srgbClr val="5E6D7B"/>
                </a:solidFill>
                <a:latin typeface="Arial"/>
              </a:rPr>
              <a:t>Reminders • voice • caregiver alert</a:t>
            </a:r>
          </a:p>
        </p:txBody>
      </p:sp>
      <p:sp>
        <p:nvSpPr>
          <p:cNvPr id="15386" name="Oval 15385"/>
          <p:cNvSpPr/>
          <p:nvPr/>
        </p:nvSpPr>
        <p:spPr>
          <a:xfrm>
            <a:off x="7708392" y="1353312"/>
            <a:ext cx="475488" cy="475488"/>
          </a:xfrm>
          <a:prstGeom prst="ellipse">
            <a:avLst/>
          </a:prstGeom>
          <a:solidFill>
            <a:srgbClr val="3C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7708392" y="1380744"/>
            <a:ext cx="4754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9134856" y="1508760"/>
            <a:ext cx="193852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Rectangle 15388"/>
          <p:cNvSpPr/>
          <p:nvPr/>
        </p:nvSpPr>
        <p:spPr>
          <a:xfrm>
            <a:off x="9134856" y="1508760"/>
            <a:ext cx="64008" cy="12344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TextBox 15389"/>
          <p:cNvSpPr txBox="1"/>
          <p:nvPr/>
        </p:nvSpPr>
        <p:spPr>
          <a:xfrm>
            <a:off x="9253728" y="1600200"/>
            <a:ext cx="170992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REVIEW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9253728" y="1947672"/>
            <a:ext cx="1709928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19" b="0">
                <a:solidFill>
                  <a:srgbClr val="5E6D7B"/>
                </a:solidFill>
                <a:latin typeface="Arial"/>
              </a:rPr>
              <a:t>Evidence window • longitudinal view</a:t>
            </a:r>
          </a:p>
        </p:txBody>
      </p:sp>
      <p:sp>
        <p:nvSpPr>
          <p:cNvPr id="15392" name="Oval 15391"/>
          <p:cNvSpPr/>
          <p:nvPr/>
        </p:nvSpPr>
        <p:spPr>
          <a:xfrm>
            <a:off x="9866376" y="1353312"/>
            <a:ext cx="475488" cy="475488"/>
          </a:xfrm>
          <a:prstGeom prst="ellipse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9866376" y="1380744"/>
            <a:ext cx="4754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594360" y="306324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Rectangle 15394"/>
          <p:cNvSpPr/>
          <p:nvPr/>
        </p:nvSpPr>
        <p:spPr>
          <a:xfrm>
            <a:off x="594360" y="3063240"/>
            <a:ext cx="64008" cy="2057400"/>
          </a:xfrm>
          <a:prstGeom prst="rect">
            <a:avLst/>
          </a:prstGeom>
          <a:solidFill>
            <a:srgbClr val="2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TextBox 15395"/>
          <p:cNvSpPr txBox="1"/>
          <p:nvPr/>
        </p:nvSpPr>
        <p:spPr>
          <a:xfrm>
            <a:off x="722376" y="313639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ELDERLY APP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731520" y="3502152"/>
            <a:ext cx="3017520" cy="1554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130">
                <a:solidFill>
                  <a:srgbClr val="5E6D7B"/>
                </a:solidFill>
                <a:latin typeface="Arial"/>
              </a:defRPr>
            </a:pPr>
            <a:r>
              <a:t>• Large-touch, calm interface</a:t>
            </a:r>
          </a:p>
          <a:p>
            <a:pPr>
              <a:spcAft>
                <a:spcPts val="300"/>
              </a:spcAft>
              <a:defRPr sz="1130">
                <a:solidFill>
                  <a:srgbClr val="5E6D7B"/>
                </a:solidFill>
                <a:latin typeface="Arial"/>
              </a:defRPr>
            </a:pPr>
            <a:r>
              <a:t>• Memory, attention &amp; pattern games</a:t>
            </a:r>
          </a:p>
          <a:p>
            <a:pPr>
              <a:spcAft>
                <a:spcPts val="300"/>
              </a:spcAft>
              <a:defRPr sz="1130">
                <a:solidFill>
                  <a:srgbClr val="5E6D7B"/>
                </a:solidFill>
                <a:latin typeface="Arial"/>
              </a:defRPr>
            </a:pPr>
            <a:r>
              <a:t>• Voice prompts + reminders</a:t>
            </a:r>
          </a:p>
          <a:p>
            <a:pPr>
              <a:spcAft>
                <a:spcPts val="300"/>
              </a:spcAft>
              <a:defRPr sz="1130">
                <a:solidFill>
                  <a:srgbClr val="5E6D7B"/>
                </a:solidFill>
                <a:latin typeface="Arial"/>
              </a:defRPr>
            </a:pPr>
            <a:r>
              <a:t>• Offline play with queued sync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3977639" y="306324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Rectangle 15398"/>
          <p:cNvSpPr/>
          <p:nvPr/>
        </p:nvSpPr>
        <p:spPr>
          <a:xfrm>
            <a:off x="3977639" y="3063240"/>
            <a:ext cx="64008" cy="2057400"/>
          </a:xfrm>
          <a:prstGeom prst="rect">
            <a:avLst/>
          </a:prstGeom>
          <a:solidFill>
            <a:srgbClr val="26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0" name="TextBox 15399"/>
          <p:cNvSpPr txBox="1"/>
          <p:nvPr/>
        </p:nvSpPr>
        <p:spPr>
          <a:xfrm>
            <a:off x="4105655" y="313639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CAREGIVER DASHBOARD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4114800" y="3502152"/>
            <a:ext cx="3017520" cy="1554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130">
                <a:solidFill>
                  <a:srgbClr val="5E6D7B"/>
                </a:solidFill>
                <a:latin typeface="Arial"/>
              </a:defRPr>
            </a:pPr>
            <a:r>
              <a:t>• Today vs personal baseline</a:t>
            </a:r>
          </a:p>
          <a:p>
            <a:pPr>
              <a:spcAft>
                <a:spcPts val="300"/>
              </a:spcAft>
              <a:defRPr sz="1130">
                <a:solidFill>
                  <a:srgbClr val="5E6D7B"/>
                </a:solidFill>
                <a:latin typeface="Arial"/>
              </a:defRPr>
            </a:pPr>
            <a:r>
              <a:t>• Adherence, trends &amp; alerts</a:t>
            </a:r>
          </a:p>
          <a:p>
            <a:pPr>
              <a:spcAft>
                <a:spcPts val="300"/>
              </a:spcAft>
              <a:defRPr sz="1130">
                <a:solidFill>
                  <a:srgbClr val="5E6D7B"/>
                </a:solidFill>
                <a:latin typeface="Arial"/>
              </a:defRPr>
            </a:pPr>
            <a:r>
              <a:t>• Reason + evidence behind every alert</a:t>
            </a:r>
          </a:p>
          <a:p>
            <a:pPr>
              <a:spcAft>
                <a:spcPts val="300"/>
              </a:spcAft>
              <a:defRPr sz="1130">
                <a:solidFill>
                  <a:srgbClr val="5E6D7B"/>
                </a:solidFill>
                <a:latin typeface="Arial"/>
              </a:defRPr>
            </a:pPr>
            <a:r>
              <a:t>• Policy-based escalation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7360920" y="3063240"/>
            <a:ext cx="2971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Rectangle 15402"/>
          <p:cNvSpPr/>
          <p:nvPr/>
        </p:nvSpPr>
        <p:spPr>
          <a:xfrm>
            <a:off x="7360920" y="3063240"/>
            <a:ext cx="64008" cy="2057400"/>
          </a:xfrm>
          <a:prstGeom prst="rect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4" name="TextBox 15403"/>
          <p:cNvSpPr txBox="1"/>
          <p:nvPr/>
        </p:nvSpPr>
        <p:spPr>
          <a:xfrm>
            <a:off x="7488936" y="313639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HEALTHCARE VIEW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7498080" y="3502152"/>
            <a:ext cx="2743200" cy="1554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Multi-day / multi-week trends</a:t>
            </a:r>
          </a:p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Session evidence &amp; escalation history</a:t>
            </a:r>
          </a:p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Observed signals separated from diagnosis</a:t>
            </a:r>
          </a:p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Human-in-the-loop review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731520" y="534924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0C203A"/>
                </a:solidFill>
                <a:latin typeface="Arial"/>
              </a:rPr>
              <a:t>UNIQUE VALUE  •  Offline-first + adaptive cognitive engagement + explainable risk signals + one shared evidence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01600" rIns="101600" tIns="50800" bIns="50800"/>
          <a:lstStyle/>
          <a:p>
            <a:pPr eaLnBrk="1" hangingPunct="1" algn="ctr"/>
            <a:r>
              <a:rPr sz="2400" b="1">
                <a:solidFill>
                  <a:srgbClr val="0C203A"/>
                </a:solidFill>
                <a:latin typeface="Arial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C203A"/>
                </a:solidFill>
                <a:latin typeface="Arial"/>
              </a:rPr>
              <a:t>MINDNER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9657"/>
            <a:ext cx="2966884" cy="848343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02920" y="914400"/>
            <a:ext cx="101498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0C203A"/>
                </a:solidFill>
                <a:latin typeface="Arial"/>
              </a:rPr>
              <a:t>Offline-first event-driven architecture with a transparent AI decision layer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417320"/>
            <a:ext cx="1645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411480" y="1417320"/>
            <a:ext cx="64008" cy="960120"/>
          </a:xfrm>
          <a:prstGeom prst="rect">
            <a:avLst/>
          </a:prstGeom>
          <a:solidFill>
            <a:srgbClr val="2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530352" y="15087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ELDERLY APP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30352" y="185623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5E6D7B"/>
                </a:solidFill>
                <a:latin typeface="Arial"/>
              </a:rPr>
              <a:t>Games • Voice • Reminders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331720" y="1417320"/>
            <a:ext cx="1645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2331720" y="1417320"/>
            <a:ext cx="64008" cy="960120"/>
          </a:xfrm>
          <a:prstGeom prst="rect">
            <a:avLst/>
          </a:prstGeom>
          <a:solidFill>
            <a:srgbClr val="26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2450591" y="15087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LOCAL LAYER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450591" y="185623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5E6D7B"/>
                </a:solidFill>
                <a:latin typeface="Arial"/>
              </a:rPr>
              <a:t>SQLite/cache • Event queue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251960" y="1417320"/>
            <a:ext cx="1645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4251960" y="1417320"/>
            <a:ext cx="64008" cy="960120"/>
          </a:xfrm>
          <a:prstGeom prst="rect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370832" y="15087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API / SYNC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70832" y="185623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5E6D7B"/>
                </a:solidFill>
                <a:latin typeface="Arial"/>
              </a:rPr>
              <a:t>Auth • Ingestion • Retry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72200" y="1417320"/>
            <a:ext cx="1645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6172200" y="1417320"/>
            <a:ext cx="64008" cy="960120"/>
          </a:xfrm>
          <a:prstGeom prst="rect">
            <a:avLst/>
          </a:prstGeom>
          <a:solidFill>
            <a:srgbClr val="3C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291072" y="15087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AI / DECISION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291072" y="185623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5E6D7B"/>
                </a:solidFill>
                <a:latin typeface="Arial"/>
              </a:rPr>
              <a:t>Features • Score • Adapt • Trend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092440" y="1417320"/>
            <a:ext cx="1645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8092440" y="1417320"/>
            <a:ext cx="64008" cy="960120"/>
          </a:xfrm>
          <a:prstGeom prst="rect">
            <a:avLst/>
          </a:prstGeom>
          <a:solidFill>
            <a:srgbClr val="2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8211312" y="15087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DATA LAYER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211312" y="185623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5E6D7B"/>
                </a:solidFill>
                <a:latin typeface="Arial"/>
              </a:rPr>
              <a:t>DB • Event log • Audit • Model metadata</a:t>
            </a:r>
          </a:p>
        </p:txBody>
      </p:sp>
      <p:sp>
        <p:nvSpPr>
          <p:cNvPr id="17432" name="Chevron 17431"/>
          <p:cNvSpPr/>
          <p:nvPr/>
        </p:nvSpPr>
        <p:spPr>
          <a:xfrm>
            <a:off x="2057400" y="1700784"/>
            <a:ext cx="256032" cy="384048"/>
          </a:xfrm>
          <a:prstGeom prst="chevron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Chevron 17432"/>
          <p:cNvSpPr/>
          <p:nvPr/>
        </p:nvSpPr>
        <p:spPr>
          <a:xfrm>
            <a:off x="3977639" y="1700784"/>
            <a:ext cx="256032" cy="384048"/>
          </a:xfrm>
          <a:prstGeom prst="chevron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Chevron 17433"/>
          <p:cNvSpPr/>
          <p:nvPr/>
        </p:nvSpPr>
        <p:spPr>
          <a:xfrm>
            <a:off x="5897880" y="1700784"/>
            <a:ext cx="256032" cy="384048"/>
          </a:xfrm>
          <a:prstGeom prst="chevron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Chevron 17434"/>
          <p:cNvSpPr/>
          <p:nvPr/>
        </p:nvSpPr>
        <p:spPr>
          <a:xfrm>
            <a:off x="7818120" y="1700784"/>
            <a:ext cx="256032" cy="384048"/>
          </a:xfrm>
          <a:prstGeom prst="chevron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8275320" y="25420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5E6D7B"/>
                </a:solidFill>
                <a:latin typeface="Arial"/>
              </a:rPr>
              <a:t>↓ outputs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502920" y="2697480"/>
            <a:ext cx="3063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ectangle 17437"/>
          <p:cNvSpPr/>
          <p:nvPr/>
        </p:nvSpPr>
        <p:spPr>
          <a:xfrm>
            <a:off x="502920" y="2697480"/>
            <a:ext cx="64008" cy="1143000"/>
          </a:xfrm>
          <a:prstGeom prst="rect">
            <a:avLst/>
          </a:prstGeom>
          <a:solidFill>
            <a:srgbClr val="26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621792" y="27889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CAREGIVER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21792" y="313639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6D7B"/>
                </a:solidFill>
                <a:latin typeface="Arial"/>
              </a:rPr>
              <a:t>Today status • trends • alerts • actions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886200" y="2697480"/>
            <a:ext cx="3063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3886200" y="2697480"/>
            <a:ext cx="64008" cy="1143000"/>
          </a:xfrm>
          <a:prstGeom prst="rect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4005072" y="27889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HEALTHCARE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005072" y="313639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6D7B"/>
                </a:solidFill>
                <a:latin typeface="Arial"/>
              </a:rPr>
              <a:t>Longitudinal evidence • escalation history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7269480" y="2697480"/>
            <a:ext cx="3063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ectangle 17445"/>
          <p:cNvSpPr/>
          <p:nvPr/>
        </p:nvSpPr>
        <p:spPr>
          <a:xfrm>
            <a:off x="7269480" y="2697480"/>
            <a:ext cx="64008" cy="114300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7388352" y="27889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NOTIFICATIONS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388352" y="313639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6D7B"/>
                </a:solidFill>
                <a:latin typeface="Arial"/>
              </a:rPr>
              <a:t>Local reminders • push • caregiver escalation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502920" y="40690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Rectangle 17449"/>
          <p:cNvSpPr/>
          <p:nvPr/>
        </p:nvSpPr>
        <p:spPr>
          <a:xfrm>
            <a:off x="502920" y="4069080"/>
            <a:ext cx="64008" cy="1417320"/>
          </a:xfrm>
          <a:prstGeom prst="rect">
            <a:avLst/>
          </a:prstGeom>
          <a:solidFill>
            <a:srgbClr val="2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630936" y="414223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TECH STACK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40080" y="4507992"/>
            <a:ext cx="297180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Flutter / React Native / PWA</a:t>
            </a:r>
          </a:p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FastAPI / Flask</a:t>
            </a:r>
          </a:p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SQLite local + PostgreSQL/SQLite server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3886200" y="40690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Rectangle 17453"/>
          <p:cNvSpPr/>
          <p:nvPr/>
        </p:nvSpPr>
        <p:spPr>
          <a:xfrm>
            <a:off x="3886200" y="4069080"/>
            <a:ext cx="64008" cy="1417320"/>
          </a:xfrm>
          <a:prstGeom prst="rect">
            <a:avLst/>
          </a:prstGeom>
          <a:solidFill>
            <a:srgbClr val="3C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4014215" y="4142232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AI / ANALYTICS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4023360" y="4507992"/>
            <a:ext cx="297180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Python + scikit-learn / PyTorch</a:t>
            </a:r>
          </a:p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Rule-based adaptation first</a:t>
            </a:r>
          </a:p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Power BI / web dashboard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7269480" y="406908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Rectangle 17457"/>
          <p:cNvSpPr/>
          <p:nvPr/>
        </p:nvSpPr>
        <p:spPr>
          <a:xfrm>
            <a:off x="7269480" y="4069080"/>
            <a:ext cx="64008" cy="1417320"/>
          </a:xfrm>
          <a:prstGeom prst="rect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7397496" y="4142232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RELIABILITY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7406640" y="4507992"/>
            <a:ext cx="28346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Idempotent event ingestion</a:t>
            </a:r>
          </a:p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Queued offline sync</a:t>
            </a:r>
          </a:p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RBAC + encryption + audit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640080" y="5559552"/>
            <a:ext cx="96926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50" b="1">
                <a:solidFill>
                  <a:srgbClr val="0C203A"/>
                </a:solidFill>
                <a:latin typeface="Arial"/>
              </a:rPr>
              <a:t>Core event flow: interaction → local event → sync → features → decision → updated difficulty / trend → dashboard or notification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01600" rIns="101600" tIns="50800" bIns="50800"/>
          <a:lstStyle/>
          <a:p>
            <a:pPr eaLnBrk="1" hangingPunct="1" algn="ctr"/>
            <a:r>
              <a:rPr sz="2400" b="1">
                <a:solidFill>
                  <a:srgbClr val="0C203A"/>
                </a:solidFill>
                <a:latin typeface="Arial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C203A"/>
                </a:solidFill>
                <a:latin typeface="Arial"/>
              </a:rPr>
              <a:t>MINDNER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9657"/>
            <a:ext cx="2966884" cy="848343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914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0C203A"/>
                </a:solidFill>
                <a:latin typeface="Arial"/>
              </a:rPr>
              <a:t>Hackathon-feasible because the MVP prioritizes one complete, testable loop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417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94360" y="1417320"/>
            <a:ext cx="64008" cy="1828800"/>
          </a:xfrm>
          <a:prstGeom prst="rect">
            <a:avLst/>
          </a:prstGeom>
          <a:solidFill>
            <a:srgbClr val="3C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22376" y="149047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WHY FEASIBLE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1856232"/>
            <a:ext cx="3017520" cy="1325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Rule-based adaptive policy is deterministic and demo-ready</a:t>
            </a:r>
          </a:p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Lightweight ML is optional ranking/forecast layer</a:t>
            </a:r>
          </a:p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Local cache enables core activity without network</a:t>
            </a:r>
          </a:p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Standard event schema supports integration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977639" y="1417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3977639" y="1417320"/>
            <a:ext cx="64008" cy="182880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105655" y="1490472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KEY CHALLENGES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114800" y="1856232"/>
            <a:ext cx="3017520" cy="1325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Small / noisy prototype data</a:t>
            </a:r>
          </a:p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Connectivity and sync failures</a:t>
            </a:r>
          </a:p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Language / voice accuracy</a:t>
            </a:r>
          </a:p>
          <a:p>
            <a:pPr>
              <a:spcAft>
                <a:spcPts val="300"/>
              </a:spcAft>
              <a:defRPr sz="1100">
                <a:solidFill>
                  <a:srgbClr val="5E6D7B"/>
                </a:solidFill>
                <a:latin typeface="Arial"/>
              </a:defRPr>
            </a:pPr>
            <a:r>
              <a:t>• Alert fatigue and usability risks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360920" y="1417320"/>
            <a:ext cx="2971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7360920" y="1417320"/>
            <a:ext cx="64008" cy="1828800"/>
          </a:xfrm>
          <a:prstGeom prst="rect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7488936" y="149047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MITIGATION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498080" y="1856232"/>
            <a:ext cx="2743200" cy="1325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Synthetic/consented demo cohort + scripted tests</a:t>
            </a:r>
          </a:p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Idempotent queued sync + freshness indicator</a:t>
            </a:r>
          </a:p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Start with validated language coverage</a:t>
            </a:r>
          </a:p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Threshold windows + severity + quiet periods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40080" y="349300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SAFETY / CLINICAL BOUNDARY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40080" y="3886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640080" y="3886200"/>
            <a:ext cx="64008" cy="1143000"/>
          </a:xfrm>
          <a:prstGeom prst="rect">
            <a:avLst/>
          </a:prstGeom>
          <a:solidFill>
            <a:srgbClr val="3C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758952" y="3977639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GREEN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58952" y="4325112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6D7B"/>
                </a:solidFill>
                <a:latin typeface="Arial"/>
              </a:rPr>
              <a:t>Within personal range → normal participation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886200" y="3886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ectangle 17429"/>
          <p:cNvSpPr/>
          <p:nvPr/>
        </p:nvSpPr>
        <p:spPr>
          <a:xfrm>
            <a:off x="3886200" y="3886200"/>
            <a:ext cx="64008" cy="1143000"/>
          </a:xfrm>
          <a:prstGeom prst="rect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4005072" y="3977639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AMBER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005072" y="4325112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6D7B"/>
                </a:solidFill>
                <a:latin typeface="Arial"/>
              </a:rPr>
              <a:t>Meaningful change / missed routine → check-in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132320" y="3886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ectangle 17433"/>
          <p:cNvSpPr/>
          <p:nvPr/>
        </p:nvSpPr>
        <p:spPr>
          <a:xfrm>
            <a:off x="7132320" y="3886200"/>
            <a:ext cx="64008" cy="114300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7251192" y="3977639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C203A"/>
                </a:solidFill>
                <a:latin typeface="Arial"/>
              </a:rPr>
              <a:t>RED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251192" y="4325112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6D7B"/>
                </a:solidFill>
                <a:latin typeface="Arial"/>
              </a:rPr>
              <a:t>Configured high-priority pattern → follow protocol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31520" y="525780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50" b="1">
                <a:solidFill>
                  <a:srgbClr val="0C203A"/>
                </a:solidFill>
                <a:latin typeface="Arial"/>
              </a:rPr>
              <a:t>CRITICAL: MINDNER provides engagement, memory assistance, monitoring and risk signals — NOT a dementia diagnosis or replacement for professional medical evaluation.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01600" rIns="101600" tIns="50800" bIns="50800"/>
          <a:lstStyle/>
          <a:p>
            <a:pPr eaLnBrk="1" hangingPunct="1" algn="ctr"/>
            <a:r>
              <a:rPr sz="2400" b="1">
                <a:solidFill>
                  <a:srgbClr val="0C203A"/>
                </a:solidFill>
                <a:latin typeface="Arial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C203A"/>
                </a:solidFill>
                <a:latin typeface="Arial"/>
              </a:rPr>
              <a:t>MINDNER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9657"/>
            <a:ext cx="2966884" cy="848343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914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50" b="1">
                <a:solidFill>
                  <a:srgbClr val="0C203A"/>
                </a:solidFill>
                <a:latin typeface="Arial"/>
              </a:rPr>
              <a:t>Impact is created by connecting the daily experience to caregiver action and longitudinal evidence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41732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94360" y="1417320"/>
            <a:ext cx="64008" cy="1417320"/>
          </a:xfrm>
          <a:prstGeom prst="rect">
            <a:avLst/>
          </a:prstGeom>
          <a:solidFill>
            <a:srgbClr val="2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13232" y="15087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ELDERLY USER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13232" y="1856232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5E6D7B"/>
                </a:solidFill>
                <a:latin typeface="Arial"/>
              </a:rPr>
              <a:t>• Mental engagement
• Routine support
• Confidence &amp; dignity
• Voice-assisted access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154680" y="141732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3154680" y="1417320"/>
            <a:ext cx="64008" cy="1417320"/>
          </a:xfrm>
          <a:prstGeom prst="rect">
            <a:avLst/>
          </a:prstGeom>
          <a:solidFill>
            <a:srgbClr val="26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273552" y="15087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CAREGIVER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273552" y="1856232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5E6D7B"/>
                </a:solidFill>
                <a:latin typeface="Arial"/>
              </a:rPr>
              <a:t>• At-a-glance status
• Personal baseline trends
• Missed routine visibility
• Explainable alerts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715000" y="141732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5715000" y="1417320"/>
            <a:ext cx="64008" cy="1417320"/>
          </a:xfrm>
          <a:prstGeom prst="rect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5833872" y="15087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HEALTHCARE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833872" y="1856232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5E6D7B"/>
                </a:solidFill>
                <a:latin typeface="Arial"/>
              </a:rPr>
              <a:t>• Longitudinal evidence
• Context around change
• Escalation history
• Supporting information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275320" y="141732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8275320" y="1417320"/>
            <a:ext cx="64008" cy="1417320"/>
          </a:xfrm>
          <a:prstGeom prst="rect">
            <a:avLst/>
          </a:prstGeom>
          <a:solidFill>
            <a:srgbClr val="3C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8394192" y="15087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SYSTEM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394192" y="1856232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6D7B"/>
                </a:solidFill>
                <a:latin typeface="Arial"/>
              </a:rPr>
              <a:t>• Offline resilience
• Privacy by design
• Auditability
• Scalable data model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31520" y="3127248"/>
            <a:ext cx="9509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0C203A"/>
                </a:solidFill>
                <a:latin typeface="Arial"/>
              </a:rPr>
              <a:t>MEASURABLE MVP SUCCESS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02920" y="3520440"/>
            <a:ext cx="1874519" cy="1051560"/>
          </a:xfrm>
          <a:prstGeom prst="roundRect">
            <a:avLst/>
          </a:prstGeom>
          <a:solidFill>
            <a:srgbClr val="F2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576072" y="36576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100" b="1">
                <a:solidFill>
                  <a:srgbClr val="20568C"/>
                </a:solidFill>
                <a:latin typeface="Arial"/>
              </a:rPr>
              <a:t>≥80%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76072" y="4050791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50" b="0">
                <a:solidFill>
                  <a:srgbClr val="5E6D7B"/>
                </a:solidFill>
                <a:latin typeface="Arial"/>
              </a:rPr>
              <a:t>planned sessions completed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2587752" y="3520440"/>
            <a:ext cx="1874519" cy="1051560"/>
          </a:xfrm>
          <a:prstGeom prst="roundRect">
            <a:avLst/>
          </a:prstGeom>
          <a:solidFill>
            <a:srgbClr val="F2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2660904" y="36576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100" b="1">
                <a:solidFill>
                  <a:srgbClr val="20568C"/>
                </a:solidFill>
                <a:latin typeface="Arial"/>
              </a:rPr>
              <a:t>≥90%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2660904" y="4050791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50" b="0">
                <a:solidFill>
                  <a:srgbClr val="5E6D7B"/>
                </a:solidFill>
                <a:latin typeface="Arial"/>
              </a:rPr>
              <a:t>scripted adaptive transitions correct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4672583" y="3520440"/>
            <a:ext cx="1874519" cy="1051560"/>
          </a:xfrm>
          <a:prstGeom prst="roundRect">
            <a:avLst/>
          </a:prstGeom>
          <a:solidFill>
            <a:srgbClr val="F2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4745736" y="36576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100" b="1">
                <a:solidFill>
                  <a:srgbClr val="20568C"/>
                </a:solidFill>
                <a:latin typeface="Arial"/>
              </a:rPr>
              <a:t>0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745736" y="4050791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50" b="0">
                <a:solidFill>
                  <a:srgbClr val="5E6D7B"/>
                </a:solidFill>
                <a:latin typeface="Arial"/>
              </a:rPr>
              <a:t>duplicate events in retry tests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757416" y="3520440"/>
            <a:ext cx="1874519" cy="1051560"/>
          </a:xfrm>
          <a:prstGeom prst="roundRect">
            <a:avLst/>
          </a:prstGeom>
          <a:solidFill>
            <a:srgbClr val="F2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6830568" y="36576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100" b="1">
                <a:solidFill>
                  <a:srgbClr val="20568C"/>
                </a:solidFill>
                <a:latin typeface="Arial"/>
              </a:rPr>
              <a:t>100%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830568" y="4050791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50" b="0">
                <a:solidFill>
                  <a:srgbClr val="5E6D7B"/>
                </a:solidFill>
                <a:latin typeface="Arial"/>
              </a:rPr>
              <a:t>alerts show reason + evidence window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8842248" y="3520440"/>
            <a:ext cx="1874519" cy="1051560"/>
          </a:xfrm>
          <a:prstGeom prst="roundRect">
            <a:avLst/>
          </a:prstGeom>
          <a:solidFill>
            <a:srgbClr val="F2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8915400" y="36576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100" b="1">
                <a:solidFill>
                  <a:srgbClr val="20568C"/>
                </a:solidFill>
                <a:latin typeface="Arial"/>
              </a:rPr>
              <a:t>100%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915400" y="4050791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50" b="0">
                <a:solidFill>
                  <a:srgbClr val="5E6D7B"/>
                </a:solidFill>
                <a:latin typeface="Arial"/>
              </a:rPr>
              <a:t>cached game flows work offline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594360" y="4828032"/>
            <a:ext cx="4754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ectangle 17444"/>
          <p:cNvSpPr/>
          <p:nvPr/>
        </p:nvSpPr>
        <p:spPr>
          <a:xfrm>
            <a:off x="594360" y="4828032"/>
            <a:ext cx="64008" cy="868680"/>
          </a:xfrm>
          <a:prstGeom prst="rect">
            <a:avLst/>
          </a:prstGeom>
          <a:solidFill>
            <a:srgbClr val="26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722376" y="490118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SOCIAL VALUE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31520" y="5266944"/>
            <a:ext cx="4526280" cy="365759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Bridges the gap between visits • reduces caregiver uncertainty • supports ageing with dignity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5577840" y="4828032"/>
            <a:ext cx="4754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5577840" y="4828032"/>
            <a:ext cx="64008" cy="868680"/>
          </a:xfrm>
          <a:prstGeom prst="rect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5705855" y="490118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C203A"/>
                </a:solidFill>
                <a:latin typeface="Arial"/>
              </a:rPr>
              <a:t>SCALE POTENTIAL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715000" y="5266944"/>
            <a:ext cx="4526280" cy="365759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5E6D7B"/>
                </a:solidFill>
                <a:latin typeface="Arial"/>
              </a:defRPr>
            </a:pPr>
            <a:r>
              <a:t>• Extensible localization • offline deployment • auditable data pipeline • richer post-hackathon analytics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01600" rIns="101600" tIns="50800" bIns="50800"/>
          <a:lstStyle/>
          <a:p>
            <a:pPr eaLnBrk="1" hangingPunct="1" algn="ctr"/>
            <a:r>
              <a:rPr sz="2400" b="1">
                <a:solidFill>
                  <a:srgbClr val="0C203A"/>
                </a:solidFill>
                <a:latin typeface="Arial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C203A"/>
                </a:solidFill>
                <a:latin typeface="Arial"/>
              </a:rPr>
              <a:t>MINDNER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9657"/>
            <a:ext cx="2966884" cy="848343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48640" y="91440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50" b="1">
                <a:solidFill>
                  <a:srgbClr val="0C203A"/>
                </a:solidFill>
                <a:latin typeface="Arial"/>
              </a:rPr>
              <a:t>Evidence used in the PRD to justify the problem, safety boundaries and design choices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417320"/>
            <a:ext cx="100584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94360" y="1417320"/>
            <a:ext cx="64008" cy="612648"/>
          </a:xfrm>
          <a:prstGeom prst="rect">
            <a:avLst/>
          </a:prstGeom>
          <a:solidFill>
            <a:srgbClr val="2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13232" y="1508760"/>
            <a:ext cx="9829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R0  |  MDoNER / SIH Problem Statement 26003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13232" y="1856232"/>
            <a:ext cx="98298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5E6D7B"/>
                </a:solidFill>
                <a:latin typeface="Arial"/>
              </a:rPr>
              <a:t>Problem context, target users, accessibility, games, reminders, offline and monitoring requirements.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94360" y="2139696"/>
            <a:ext cx="100584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594360" y="2139696"/>
            <a:ext cx="64008" cy="612648"/>
          </a:xfrm>
          <a:prstGeom prst="rect">
            <a:avLst/>
          </a:prstGeom>
          <a:solidFill>
            <a:srgbClr val="26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13232" y="2231136"/>
            <a:ext cx="9829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R1  |  WHO — Dementia fact sheet (03 Jul 2026)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13232" y="2578608"/>
            <a:ext cx="98298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5E6D7B"/>
                </a:solidFill>
                <a:latin typeface="Arial"/>
              </a:rPr>
              <a:t>Global dementia burden, disability and dependency context.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4360" y="2862072"/>
            <a:ext cx="100584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594360" y="2862072"/>
            <a:ext cx="64008" cy="612648"/>
          </a:xfrm>
          <a:prstGeom prst="rect">
            <a:avLst/>
          </a:prstGeom>
          <a:solidFill>
            <a:srgbClr val="DC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713232" y="2953512"/>
            <a:ext cx="9829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R2–R3  |  WHO — Ethics &amp; governance of AI for health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13232" y="3300984"/>
            <a:ext cx="98298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5E6D7B"/>
                </a:solidFill>
                <a:latin typeface="Arial"/>
              </a:rPr>
              <a:t>Human oversight, autonomy, safety, transparency and accountability.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94360" y="3584448"/>
            <a:ext cx="100584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594360" y="3584448"/>
            <a:ext cx="64008" cy="612648"/>
          </a:xfrm>
          <a:prstGeom prst="rect">
            <a:avLst/>
          </a:prstGeom>
          <a:solidFill>
            <a:srgbClr val="3C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13232" y="3675887"/>
            <a:ext cx="9829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R4  |  WHO — Risk reduction of cognitive decline &amp; dementia, 2nd ed. (2026)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13232" y="4023360"/>
            <a:ext cx="98298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5E6D7B"/>
                </a:solidFill>
                <a:latin typeface="Arial"/>
              </a:rPr>
              <a:t>Current evidence-based guidance and limits of evidence.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94360" y="4306824"/>
            <a:ext cx="10058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594360" y="4306824"/>
            <a:ext cx="64008" cy="658368"/>
          </a:xfrm>
          <a:prstGeom prst="rect">
            <a:avLst/>
          </a:prstGeom>
          <a:solidFill>
            <a:srgbClr val="2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713232" y="4398264"/>
            <a:ext cx="9829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R5–R7  |  2024–2025 systematic reviews / meta-analyses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13232" y="4745736"/>
            <a:ext cx="9829800" cy="155447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5E6D7B"/>
                </a:solidFill>
                <a:latin typeface="Arial"/>
              </a:rPr>
              <a:t>Promising but heterogeneous evidence for cognitive interventions; supports cautious product framing.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94360" y="5074920"/>
            <a:ext cx="100584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ectangle 17432"/>
          <p:cNvSpPr/>
          <p:nvPr/>
        </p:nvSpPr>
        <p:spPr>
          <a:xfrm>
            <a:off x="594360" y="5074920"/>
            <a:ext cx="64008" cy="612648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713232" y="5166359"/>
            <a:ext cx="9829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0C203A"/>
                </a:solidFill>
                <a:latin typeface="Arial"/>
              </a:rPr>
              <a:t>R8  |  Government of India — Digital Personal Data Protection Act, 2023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13232" y="5513831"/>
            <a:ext cx="98298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5E6D7B"/>
                </a:solidFill>
                <a:latin typeface="Arial"/>
              </a:rPr>
              <a:t>Privacy, notice/consent and data governance baseline.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85800" y="5468112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50" b="1">
                <a:solidFill>
                  <a:srgbClr val="0C203A"/>
                </a:solidFill>
                <a:latin typeface="Arial"/>
              </a:rPr>
              <a:t>Evidence note: the references support the problem context and cautious design rationale; they do NOT establish clinical efficacy of the MINDNER prototype.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31520" y="5833872"/>
            <a:ext cx="9601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720" b="0">
                <a:solidFill>
                  <a:srgbClr val="5E6D7B"/>
                </a:solidFill>
                <a:latin typeface="Arial"/>
              </a:rPr>
              <a:t>Sources: who.int/news-room/fact-sheets/detail/dementia  •  who.int/publications/i/item/9789240029200  •  indiacode.nic.in/indiacode/handle/123456789/22037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7507</TotalTime>
  <Words>302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DELL</cp:lastModifiedBy>
  <cp:revision>151</cp:revision>
  <dcterms:created xsi:type="dcterms:W3CDTF">2013-12-12T18:46:50Z</dcterms:created>
  <dcterms:modified xsi:type="dcterms:W3CDTF">2026-09-04T07:06:37Z</dcterms:modified>
  <cp:category/>
</cp:coreProperties>
</file>